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" y="1783080"/>
            <a:ext cx="73152" cy="2011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66960" y="822960"/>
            <a:ext cx="1325880" cy="1325880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66960" y="1143000"/>
            <a:ext cx="1325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B0F14"/>
                </a:solidFill>
                <a:latin typeface="Consolas"/>
                <a:ea typeface="Microsoft YaHei"/>
              </a:rPr>
              <a:t>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91640"/>
            <a:ext cx="8229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400" b="1" i="0">
                <a:solidFill>
                  <a:srgbClr val="E5E7EB"/>
                </a:solidFill>
                <a:latin typeface="Microsoft YaHei"/>
                <a:ea typeface="Microsoft YaHei"/>
              </a:rPr>
              <a:t>Python 核心概念科普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288036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0" i="0">
                <a:solidFill>
                  <a:srgbClr val="94A3B8"/>
                </a:solidFill>
                <a:latin typeface="Microsoft YaHei"/>
                <a:ea typeface="Microsoft YaHei"/>
              </a:rPr>
              <a:t>给想入门、或想梳理知识的你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36118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94A3B8"/>
                </a:solidFill>
                <a:latin typeface="Microsoft YaHei"/>
                <a:ea typeface="Microsoft YaHei"/>
              </a:rPr>
              <a:t>计算机学生 · 概念地图版 · 共 13 页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9888" y="4709160"/>
            <a:ext cx="54864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89888" y="4709160"/>
            <a:ext cx="64008" cy="8229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4919472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34D399"/>
                </a:solidFill>
                <a:latin typeface="Consolas"/>
                <a:ea typeface="Microsoft YaHei"/>
              </a:rPr>
              <a:t>&gt;&gt;&gt; print("Hello, Python")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89888" y="5989320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2D3EE"/>
                </a:solidFill>
                <a:latin typeface="Microsoft YaHei"/>
                <a:ea typeface="Microsoft YaHe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11535" y="475488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94A3B8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E5E7EB"/>
                </a:solidFill>
                <a:latin typeface="Microsoft YaHei"/>
                <a:ea typeface="Microsoft YaHei"/>
              </a:rPr>
              <a:t>先看全景：一张学习地图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481328"/>
            <a:ext cx="914400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65376" y="1499616"/>
            <a:ext cx="9503359" cy="16459"/>
          </a:xfrm>
          <a:prstGeom prst="rect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94A3B8"/>
                </a:solidFill>
                <a:latin typeface="Microsoft YaHei"/>
                <a:ea typeface="Microsoft YaHei"/>
              </a:rPr>
              <a:t>先建立框架，再往每个格子里填细节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514600"/>
            <a:ext cx="1298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2D3EE"/>
                </a:solidFill>
                <a:latin typeface="Consolas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990087"/>
            <a:ext cx="12984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5E7EB"/>
                </a:solidFill>
                <a:latin typeface="Microsoft YaHei"/>
                <a:ea typeface="Microsoft YaHei"/>
              </a:rPr>
              <a:t>语法基础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5164" y="2834639"/>
            <a:ext cx="1554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A78BF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2331720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0632" y="2514600"/>
            <a:ext cx="1298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2D3EE"/>
                </a:solidFill>
                <a:latin typeface="Consolas"/>
                <a:ea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2990087"/>
            <a:ext cx="12984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5E7EB"/>
                </a:solidFill>
                <a:latin typeface="Microsoft YaHei"/>
                <a:ea typeface="Microsoft YaHei"/>
              </a:rPr>
              <a:t>数据结构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8244" y="2834639"/>
            <a:ext cx="1554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A78BF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331720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2514600"/>
            <a:ext cx="1298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2D3EE"/>
                </a:solidFill>
                <a:latin typeface="Consolas"/>
                <a:ea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990087"/>
            <a:ext cx="12984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5E7EB"/>
                </a:solidFill>
                <a:latin typeface="Microsoft YaHei"/>
                <a:ea typeface="Microsoft YaHei"/>
              </a:rPr>
              <a:t>函数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21324" y="2834639"/>
            <a:ext cx="1554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A78BF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331720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2514600"/>
            <a:ext cx="1298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2D3EE"/>
                </a:solidFill>
                <a:latin typeface="Consolas"/>
                <a:ea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2990087"/>
            <a:ext cx="12984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5E7EB"/>
                </a:solidFill>
                <a:latin typeface="Microsoft YaHei"/>
                <a:ea typeface="Microsoft YaHei"/>
              </a:rPr>
              <a:t>面向对象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4404" y="2834639"/>
            <a:ext cx="1554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A78BF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2331720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9871" y="2514600"/>
            <a:ext cx="1298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2D3EE"/>
                </a:solidFill>
                <a:latin typeface="Consolas"/>
                <a:ea typeface="Microsoft YaHe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1" y="2990087"/>
            <a:ext cx="12984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5E7EB"/>
                </a:solidFill>
                <a:latin typeface="Microsoft YaHei"/>
                <a:ea typeface="Microsoft YaHei"/>
              </a:rPr>
              <a:t>异常与模块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7484" y="2834639"/>
            <a:ext cx="1554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A78BF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38359" y="2331720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2951" y="2514600"/>
            <a:ext cx="1298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2D3EE"/>
                </a:solidFill>
                <a:latin typeface="Consolas"/>
                <a:ea typeface="Microsoft YaHe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1" y="2990087"/>
            <a:ext cx="12984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5E7EB"/>
                </a:solidFill>
                <a:latin typeface="Microsoft YaHei"/>
                <a:ea typeface="Microsoft YaHei"/>
              </a:rPr>
              <a:t>综合运用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343400"/>
            <a:ext cx="1054577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600" b="0" i="0">
                <a:solidFill>
                  <a:srgbClr val="E5E7EB"/>
                </a:solidFill>
                <a:latin typeface="Microsoft YaHei"/>
                <a:ea typeface="Microsoft YaHei"/>
              </a:rPr>
              <a:t>自底向上：先掌握语法和数据，再学函数、类这些抽象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600" b="0" i="0">
                <a:solidFill>
                  <a:srgbClr val="E5E7EB"/>
                </a:solidFill>
                <a:latin typeface="Microsoft YaHei"/>
                <a:ea typeface="Microsoft YaHei"/>
              </a:rPr>
              <a:t>先动手：每个概念都配一个能运行的小例子，边敲边理解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600" b="0" i="0">
                <a:solidFill>
                  <a:srgbClr val="E5E7EB"/>
                </a:solidFill>
                <a:latin typeface="Microsoft YaHei"/>
                <a:ea typeface="Microsoft YaHei"/>
              </a:rPr>
              <a:t>最后串起来：用一个小项目检验自己是不是真的懂了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2D3EE"/>
                </a:solidFill>
                <a:latin typeface="Microsoft YaHei"/>
                <a:ea typeface="Microsoft YaHei"/>
              </a:rPr>
              <a:t>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11535" y="475488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94A3B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E5E7EB"/>
                </a:solidFill>
                <a:latin typeface="Microsoft YaHei"/>
                <a:ea typeface="Microsoft YaHei"/>
              </a:rPr>
              <a:t>变量与数据类型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481328"/>
            <a:ext cx="914400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65376" y="1499616"/>
            <a:ext cx="9503359" cy="16459"/>
          </a:xfrm>
          <a:prstGeom prst="rect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3949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变量不是"装东西的盒子"，更像给对象贴的标签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= 让名字指向一个值，同一个值可被多个名字指向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核心类型：int / float / bool / str / None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Python 是动态类型，变量不用先声明类型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1828800"/>
            <a:ext cx="4645152" cy="3977639"/>
          </a:xfrm>
          <a:prstGeom prst="rect">
            <a:avLst/>
          </a:prstGeom>
          <a:solidFill>
            <a:srgbClr val="0F172A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0840" y="1828800"/>
            <a:ext cx="64008" cy="3977639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0296" y="1938528"/>
            <a:ext cx="4233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94A3B8"/>
                </a:solidFill>
                <a:latin typeface="Consolas"/>
                <a:ea typeface="Microsoft YaHei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0296" y="2286000"/>
            <a:ext cx="4187952" cy="34107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name = "Mys"       </a:t>
            </a:r>
            <a:r>
              <a:rPr sz="1300" b="0" i="0">
                <a:solidFill>
                  <a:srgbClr val="34D399"/>
                </a:solidFill>
                <a:latin typeface="Consolas"/>
                <a:ea typeface="Microsoft YaHei"/>
              </a:rPr>
              <a:t> # str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age = 20           </a:t>
            </a:r>
            <a:r>
              <a:rPr sz="1300" b="0" i="0">
                <a:solidFill>
                  <a:srgbClr val="34D399"/>
                </a:solidFill>
                <a:latin typeface="Consolas"/>
                <a:ea typeface="Microsoft YaHei"/>
              </a:rPr>
              <a:t> # int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score = 88.5       </a:t>
            </a:r>
            <a:r>
              <a:rPr sz="1300" b="0" i="0">
                <a:solidFill>
                  <a:srgbClr val="34D399"/>
                </a:solidFill>
                <a:latin typeface="Consolas"/>
                <a:ea typeface="Microsoft YaHei"/>
              </a:rPr>
              <a:t> # float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is_student = True  </a:t>
            </a:r>
            <a:r>
              <a:rPr sz="1300" b="0" i="0">
                <a:solidFill>
                  <a:srgbClr val="34D399"/>
                </a:solidFill>
                <a:latin typeface="Consolas"/>
                <a:ea typeface="Microsoft YaHei"/>
              </a:rPr>
              <a:t> # bool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print(type(age))   </a:t>
            </a:r>
            <a:r>
              <a:rPr sz="1300" b="0" i="0">
                <a:solidFill>
                  <a:srgbClr val="34D399"/>
                </a:solidFill>
                <a:latin typeface="Consolas"/>
                <a:ea typeface="Microsoft YaHei"/>
              </a:rPr>
              <a:t> # &lt;class 'int'&gt;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print(type(name))  </a:t>
            </a:r>
            <a:r>
              <a:rPr sz="1300" b="0" i="0">
                <a:solidFill>
                  <a:srgbClr val="34D399"/>
                </a:solidFill>
                <a:latin typeface="Consolas"/>
                <a:ea typeface="Microsoft YaHei"/>
              </a:rPr>
              <a:t> # &lt;class 'str'&gt;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2D3EE"/>
                </a:solidFill>
                <a:latin typeface="Microsoft YaHei"/>
                <a:ea typeface="Microsoft YaHei"/>
              </a:rPr>
              <a:t>CONTROL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11535" y="475488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94A3B8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E5E7EB"/>
                </a:solidFill>
                <a:latin typeface="Microsoft YaHei"/>
                <a:ea typeface="Microsoft YaHei"/>
              </a:rPr>
              <a:t>流程控制：判断与循环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481328"/>
            <a:ext cx="914400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65376" y="1499616"/>
            <a:ext cx="9503359" cy="16459"/>
          </a:xfrm>
          <a:prstGeom prst="rect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3949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if / elif / else：按条件走不同分支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for：遍历序列或 range，循环次数明确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while：条件为真时一直重复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break 提前退出，continue 跳过本轮进入下一轮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1828800"/>
            <a:ext cx="4645152" cy="3977639"/>
          </a:xfrm>
          <a:prstGeom prst="rect">
            <a:avLst/>
          </a:prstGeom>
          <a:solidFill>
            <a:srgbClr val="0F172A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0840" y="1828800"/>
            <a:ext cx="64008" cy="3977639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0296" y="1938528"/>
            <a:ext cx="4233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94A3B8"/>
                </a:solidFill>
                <a:latin typeface="Consolas"/>
                <a:ea typeface="Microsoft YaHei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0296" y="2286000"/>
            <a:ext cx="4187952" cy="34107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for i in range(1, 6):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    if i % 2 == 0: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        print(i, "是偶数")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    else: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        print(i, "是奇数")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2D3EE"/>
                </a:solidFill>
                <a:latin typeface="Microsoft YaHei"/>
                <a:ea typeface="Microsoft YaHei"/>
              </a:rPr>
              <a:t>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11535" y="475488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94A3B8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E5E7EB"/>
                </a:solidFill>
                <a:latin typeface="Microsoft YaHei"/>
                <a:ea typeface="Microsoft YaHei"/>
              </a:rPr>
              <a:t>函数：封装与复用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481328"/>
            <a:ext cx="914400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65376" y="1499616"/>
            <a:ext cx="9503359" cy="16459"/>
          </a:xfrm>
          <a:prstGeom prst="rect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3949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def 定义函数，有函数名、参数、返回值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封装一段逻辑，重复调用，方便复用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默认参数：调用时可省略，未传时用默认值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return 返回结果；没有 return 时返回 None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1828800"/>
            <a:ext cx="4645152" cy="3977639"/>
          </a:xfrm>
          <a:prstGeom prst="rect">
            <a:avLst/>
          </a:prstGeom>
          <a:solidFill>
            <a:srgbClr val="0F172A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0840" y="1828800"/>
            <a:ext cx="64008" cy="3977639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0296" y="1938528"/>
            <a:ext cx="4233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94A3B8"/>
                </a:solidFill>
                <a:latin typeface="Consolas"/>
                <a:ea typeface="Microsoft YaHei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0296" y="2286000"/>
            <a:ext cx="4187952" cy="34107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def greet(name="同学"):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    return f"你好，{name}！"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print(greet("Mys"))     </a:t>
            </a:r>
            <a:r>
              <a:rPr sz="1300" b="0" i="0">
                <a:solidFill>
                  <a:srgbClr val="34D399"/>
                </a:solidFill>
                <a:latin typeface="Consolas"/>
                <a:ea typeface="Microsoft YaHei"/>
              </a:rPr>
              <a:t> # 你好，Mys！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print(greet())          </a:t>
            </a:r>
            <a:r>
              <a:rPr sz="1300" b="0" i="0">
                <a:solidFill>
                  <a:srgbClr val="34D399"/>
                </a:solidFill>
                <a:latin typeface="Consolas"/>
                <a:ea typeface="Microsoft YaHei"/>
              </a:rPr>
              <a:t> # 你好，同学！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2D3EE"/>
                </a:solidFill>
                <a:latin typeface="Microsoft YaHei"/>
                <a:ea typeface="Microsoft YaHei"/>
              </a:rPr>
              <a:t>DATA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11535" y="475488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94A3B8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E5E7EB"/>
                </a:solidFill>
                <a:latin typeface="Microsoft YaHei"/>
                <a:ea typeface="Microsoft YaHei"/>
              </a:rPr>
              <a:t>数据结构：四种常用容器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481328"/>
            <a:ext cx="914400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65376" y="1499616"/>
            <a:ext cx="9503359" cy="16459"/>
          </a:xfrm>
          <a:prstGeom prst="rect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874519"/>
          <a:ext cx="653796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/>
                <a:gridCol w="960120"/>
                <a:gridCol w="777240"/>
                <a:gridCol w="1051560"/>
                <a:gridCol w="260604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2D3EE"/>
                          </a:solidFill>
                          <a:latin typeface="Microsoft YaHei"/>
                          <a:ea typeface="Microsoft YaHei"/>
                        </a:rPr>
                        <a:t>类型</a:t>
                      </a:r>
                    </a:p>
                  </a:txBody>
                  <a:tcPr marL="91440" marR="73152" marT="36576" marB="36576" anchor="ctr">
                    <a:solidFill>
                      <a:srgbClr val="1B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2D3EE"/>
                          </a:solidFill>
                          <a:latin typeface="Microsoft YaHei"/>
                          <a:ea typeface="Microsoft YaHei"/>
                        </a:rPr>
                        <a:t>有序</a:t>
                      </a:r>
                    </a:p>
                  </a:txBody>
                  <a:tcPr marL="91440" marR="73152" marT="36576" marB="36576" anchor="ctr">
                    <a:solidFill>
                      <a:srgbClr val="1B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2D3EE"/>
                          </a:solidFill>
                          <a:latin typeface="Microsoft YaHei"/>
                          <a:ea typeface="Microsoft YaHei"/>
                        </a:rPr>
                        <a:t>可变</a:t>
                      </a:r>
                    </a:p>
                  </a:txBody>
                  <a:tcPr marL="91440" marR="73152" marT="36576" marB="36576" anchor="ctr">
                    <a:solidFill>
                      <a:srgbClr val="1B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2D3EE"/>
                          </a:solidFill>
                          <a:latin typeface="Microsoft YaHei"/>
                          <a:ea typeface="Microsoft YaHei"/>
                        </a:rPr>
                        <a:t>可重复</a:t>
                      </a:r>
                    </a:p>
                  </a:txBody>
                  <a:tcPr marL="91440" marR="73152" marT="36576" marB="36576" anchor="ctr">
                    <a:solidFill>
                      <a:srgbClr val="1B24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2D3EE"/>
                          </a:solidFill>
                          <a:latin typeface="Microsoft YaHei"/>
                          <a:ea typeface="Microsoft YaHei"/>
                        </a:rPr>
                        <a:t>常用场景</a:t>
                      </a:r>
                    </a:p>
                  </a:txBody>
                  <a:tcPr marL="91440" marR="73152" marT="36576" marB="36576" anchor="ctr">
                    <a:solidFill>
                      <a:srgbClr val="1B243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A78BFA"/>
                          </a:solidFill>
                          <a:latin typeface="Microsoft YaHei"/>
                          <a:ea typeface="Microsoft YaHei"/>
                        </a:rPr>
                        <a:t>list</a:t>
                      </a:r>
                    </a:p>
                  </a:txBody>
                  <a:tcPr marL="91440" marR="73152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E5E7EB"/>
                          </a:solidFill>
                          <a:latin typeface="Microsoft YaHei"/>
                          <a:ea typeface="Microsoft YaHei"/>
                        </a:rPr>
                        <a:t>是</a:t>
                      </a:r>
                    </a:p>
                  </a:txBody>
                  <a:tcPr marL="91440" marR="73152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E5E7EB"/>
                          </a:solidFill>
                          <a:latin typeface="Microsoft YaHei"/>
                          <a:ea typeface="Microsoft YaHei"/>
                        </a:rPr>
                        <a:t>是</a:t>
                      </a:r>
                    </a:p>
                  </a:txBody>
                  <a:tcPr marL="91440" marR="73152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E5E7EB"/>
                          </a:solidFill>
                          <a:latin typeface="Microsoft YaHei"/>
                          <a:ea typeface="Microsoft YaHei"/>
                        </a:rPr>
                        <a:t>是</a:t>
                      </a:r>
                    </a:p>
                  </a:txBody>
                  <a:tcPr marL="91440" marR="73152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E5E7EB"/>
                          </a:solidFill>
                          <a:latin typeface="Microsoft YaHei"/>
                          <a:ea typeface="Microsoft YaHei"/>
                        </a:rPr>
                        <a:t>一组数据的顺序集合</a:t>
                      </a:r>
                    </a:p>
                  </a:txBody>
                  <a:tcPr marL="91440" marR="73152" marT="36576" marB="36576" anchor="ctr"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A78BFA"/>
                          </a:solidFill>
                          <a:latin typeface="Microsoft YaHei"/>
                          <a:ea typeface="Microsoft YaHei"/>
                        </a:rPr>
                        <a:t>tuple</a:t>
                      </a:r>
                    </a:p>
                  </a:txBody>
                  <a:tcPr marL="91440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E5E7EB"/>
                          </a:solidFill>
                          <a:latin typeface="Microsoft YaHei"/>
                          <a:ea typeface="Microsoft YaHei"/>
                        </a:rPr>
                        <a:t>是</a:t>
                      </a:r>
                    </a:p>
                  </a:txBody>
                  <a:tcPr marL="91440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E5E7EB"/>
                          </a:solidFill>
                          <a:latin typeface="Microsoft YaHei"/>
                          <a:ea typeface="Microsoft YaHei"/>
                        </a:rPr>
                        <a:t>否</a:t>
                      </a:r>
                    </a:p>
                  </a:txBody>
                  <a:tcPr marL="91440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E5E7EB"/>
                          </a:solidFill>
                          <a:latin typeface="Microsoft YaHei"/>
                          <a:ea typeface="Microsoft YaHei"/>
                        </a:rPr>
                        <a:t>是</a:t>
                      </a:r>
                    </a:p>
                  </a:txBody>
                  <a:tcPr marL="91440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E5E7EB"/>
                          </a:solidFill>
                          <a:latin typeface="Microsoft YaHei"/>
                          <a:ea typeface="Microsoft YaHei"/>
                        </a:rPr>
                        <a:t>不可变序列，可作字典键</a:t>
                      </a:r>
                    </a:p>
                  </a:txBody>
                  <a:tcPr marL="91440" marR="73152" marT="36576" marB="36576" anchor="ctr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A78BFA"/>
                          </a:solidFill>
                          <a:latin typeface="Microsoft YaHei"/>
                          <a:ea typeface="Microsoft YaHei"/>
                        </a:rPr>
                        <a:t>dict</a:t>
                      </a:r>
                    </a:p>
                  </a:txBody>
                  <a:tcPr marL="91440" marR="73152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E5E7EB"/>
                          </a:solidFill>
                          <a:latin typeface="Microsoft YaHei"/>
                          <a:ea typeface="Microsoft YaHei"/>
                        </a:rPr>
                        <a:t>是(3.7+)</a:t>
                      </a:r>
                    </a:p>
                  </a:txBody>
                  <a:tcPr marL="91440" marR="73152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E5E7EB"/>
                          </a:solidFill>
                          <a:latin typeface="Microsoft YaHei"/>
                          <a:ea typeface="Microsoft YaHei"/>
                        </a:rPr>
                        <a:t>是</a:t>
                      </a:r>
                    </a:p>
                  </a:txBody>
                  <a:tcPr marL="91440" marR="73152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E5E7EB"/>
                          </a:solidFill>
                          <a:latin typeface="Microsoft YaHei"/>
                          <a:ea typeface="Microsoft YaHei"/>
                        </a:rPr>
                        <a:t>键唯一</a:t>
                      </a:r>
                    </a:p>
                  </a:txBody>
                  <a:tcPr marL="91440" marR="73152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E5E7EB"/>
                          </a:solidFill>
                          <a:latin typeface="Microsoft YaHei"/>
                          <a:ea typeface="Microsoft YaHei"/>
                        </a:rPr>
                        <a:t>键值映射，快速查找</a:t>
                      </a:r>
                    </a:p>
                  </a:txBody>
                  <a:tcPr marL="91440" marR="73152" marT="36576" marB="36576" anchor="ctr"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A78BFA"/>
                          </a:solidFill>
                          <a:latin typeface="Microsoft YaHei"/>
                          <a:ea typeface="Microsoft YaHei"/>
                        </a:rPr>
                        <a:t>set</a:t>
                      </a:r>
                    </a:p>
                  </a:txBody>
                  <a:tcPr marL="91440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E5E7EB"/>
                          </a:solidFill>
                          <a:latin typeface="Microsoft YaHei"/>
                          <a:ea typeface="Microsoft YaHei"/>
                        </a:rPr>
                        <a:t>否</a:t>
                      </a:r>
                    </a:p>
                  </a:txBody>
                  <a:tcPr marL="91440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E5E7EB"/>
                          </a:solidFill>
                          <a:latin typeface="Microsoft YaHei"/>
                          <a:ea typeface="Microsoft YaHei"/>
                        </a:rPr>
                        <a:t>是</a:t>
                      </a:r>
                    </a:p>
                  </a:txBody>
                  <a:tcPr marL="91440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E5E7EB"/>
                          </a:solidFill>
                          <a:latin typeface="Microsoft YaHei"/>
                          <a:ea typeface="Microsoft YaHei"/>
                        </a:rPr>
                        <a:t>否</a:t>
                      </a:r>
                    </a:p>
                  </a:txBody>
                  <a:tcPr marL="91440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E5E7EB"/>
                          </a:solidFill>
                          <a:latin typeface="Microsoft YaHei"/>
                          <a:ea typeface="Microsoft YaHei"/>
                        </a:rPr>
                        <a:t>去重、集合运算</a:t>
                      </a:r>
                    </a:p>
                  </a:txBody>
                  <a:tcPr marL="91440" marR="73152" marT="36576" marB="36576"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543800" y="1874519"/>
            <a:ext cx="3822191" cy="3063240"/>
          </a:xfrm>
          <a:prstGeom prst="rect">
            <a:avLst/>
          </a:prstGeom>
          <a:solidFill>
            <a:srgbClr val="0F172A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874519"/>
            <a:ext cx="64008" cy="30632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63256" y="1984248"/>
            <a:ext cx="34107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94A3B8"/>
                </a:solidFill>
                <a:latin typeface="Consolas"/>
                <a:ea typeface="Microsoft YaHei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63256" y="2331720"/>
            <a:ext cx="3364991" cy="2496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C7D2FE"/>
                </a:solidFill>
                <a:latin typeface="Consolas"/>
                <a:ea typeface="Microsoft YaHei"/>
              </a:rPr>
              <a:t>nums = [1, 2, 3]       </a:t>
            </a:r>
            <a:r>
              <a:rPr sz="1400" b="0" i="0">
                <a:solidFill>
                  <a:srgbClr val="34D399"/>
                </a:solidFill>
                <a:latin typeface="Consolas"/>
                <a:ea typeface="Microsoft YaHei"/>
              </a:rPr>
              <a:t> # list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C7D2FE"/>
                </a:solidFill>
                <a:latin typeface="Consolas"/>
                <a:ea typeface="Microsoft YaHei"/>
              </a:rPr>
              <a:t>point = (3, 4)       </a:t>
            </a:r>
            <a:r>
              <a:rPr sz="1400" b="0" i="0">
                <a:solidFill>
                  <a:srgbClr val="34D399"/>
                </a:solidFill>
                <a:latin typeface="Consolas"/>
                <a:ea typeface="Microsoft YaHei"/>
              </a:rPr>
              <a:t> # tuple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C7D2FE"/>
                </a:solidFill>
                <a:latin typeface="Consolas"/>
                <a:ea typeface="Microsoft YaHei"/>
              </a:rPr>
              <a:t>user = {"name": "Mys"} </a:t>
            </a:r>
            <a:r>
              <a:rPr sz="1400" b="0" i="0">
                <a:solidFill>
                  <a:srgbClr val="34D399"/>
                </a:solidFill>
                <a:latin typeface="Consolas"/>
                <a:ea typeface="Microsoft YaHei"/>
              </a:rPr>
              <a:t> # dict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C7D2FE"/>
                </a:solidFill>
                <a:latin typeface="Consolas"/>
                <a:ea typeface="Microsoft YaHei"/>
              </a:rPr>
              <a:t>tags = {"a", "b"}      </a:t>
            </a:r>
            <a:r>
              <a:rPr sz="1400" b="0" i="0">
                <a:solidFill>
                  <a:srgbClr val="34D399"/>
                </a:solidFill>
                <a:latin typeface="Consolas"/>
                <a:ea typeface="Microsoft YaHei"/>
              </a:rPr>
              <a:t> #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5780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94A3B8"/>
                </a:solidFill>
                <a:latin typeface="Microsoft YaHei"/>
                <a:ea typeface="Microsoft YaHei"/>
              </a:rPr>
              <a:t>口诀：list 最常用，dict 做映射，set 来去重，tuple 存不可变的数据。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2D3EE"/>
                </a:solidFill>
                <a:latin typeface="Microsoft YaHei"/>
                <a:ea typeface="Microsoft YaHei"/>
              </a:rPr>
              <a:t>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11535" y="475488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94A3B8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E5E7EB"/>
                </a:solidFill>
                <a:latin typeface="Microsoft YaHei"/>
                <a:ea typeface="Microsoft YaHei"/>
              </a:rPr>
              <a:t>面向对象：类与对象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481328"/>
            <a:ext cx="914400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65376" y="1499616"/>
            <a:ext cx="9503359" cy="16459"/>
          </a:xfrm>
          <a:prstGeom prst="rect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3949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类是"模具"，对象是"成品"，一个类可造很多对象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class 定义类，__init__ 是初始化方法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self 代表"当前这个实例自己"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属性是数据，方法是行为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1828800"/>
            <a:ext cx="4645152" cy="3977639"/>
          </a:xfrm>
          <a:prstGeom prst="rect">
            <a:avLst/>
          </a:prstGeom>
          <a:solidFill>
            <a:srgbClr val="0F172A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0840" y="1828800"/>
            <a:ext cx="64008" cy="3977639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0296" y="1938528"/>
            <a:ext cx="4233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94A3B8"/>
                </a:solidFill>
                <a:latin typeface="Consolas"/>
                <a:ea typeface="Microsoft YaHei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0296" y="2286000"/>
            <a:ext cx="4187952" cy="34107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class Dog: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    def __init__(self, name):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        self.name = name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    def bark(self):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        return f"{self.name} 汪汪"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d = Dog("旺财")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print(d.bark())  </a:t>
            </a:r>
            <a:r>
              <a:rPr sz="1300" b="0" i="0">
                <a:solidFill>
                  <a:srgbClr val="34D399"/>
                </a:solidFill>
                <a:latin typeface="Consolas"/>
                <a:ea typeface="Microsoft YaHei"/>
              </a:rPr>
              <a:t> # 旺财 汪汪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2D3EE"/>
                </a:solidFill>
                <a:latin typeface="Microsoft YaHei"/>
                <a:ea typeface="Microsoft YaHei"/>
              </a:rPr>
              <a:t>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11535" y="475488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94A3B8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E5E7EB"/>
                </a:solidFill>
                <a:latin typeface="Microsoft YaHei"/>
                <a:ea typeface="Microsoft YaHei"/>
              </a:rPr>
              <a:t>异常处理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481328"/>
            <a:ext cx="914400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65376" y="1499616"/>
            <a:ext cx="9503359" cy="16459"/>
          </a:xfrm>
          <a:prstGeom prst="rect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3949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程序出错会抛异常，不处理就会中断运行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try 放可能出错的代码，except 捕获并处理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finally 无论是否异常都会执行，常用来清理资源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常见异常：ZeroDivisionError / ValueError / TypeError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1828800"/>
            <a:ext cx="4645152" cy="3977639"/>
          </a:xfrm>
          <a:prstGeom prst="rect">
            <a:avLst/>
          </a:prstGeom>
          <a:solidFill>
            <a:srgbClr val="0F172A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0840" y="1828800"/>
            <a:ext cx="64008" cy="3977639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0296" y="1938528"/>
            <a:ext cx="4233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94A3B8"/>
                </a:solidFill>
                <a:latin typeface="Consolas"/>
                <a:ea typeface="Microsoft YaHei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0296" y="2286000"/>
            <a:ext cx="4187952" cy="34107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try: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    x = 1 / 0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except ZeroDivisionError as e: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    print("出错了:", e)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finally: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    print("这行总会执行")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2D3EE"/>
                </a:solidFill>
                <a:latin typeface="Microsoft YaHei"/>
                <a:ea typeface="Microsoft YaHei"/>
              </a:rPr>
              <a:t>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11535" y="475488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94A3B8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E5E7EB"/>
                </a:solidFill>
                <a:latin typeface="Microsoft YaHei"/>
                <a:ea typeface="Microsoft YaHei"/>
              </a:rPr>
              <a:t>模块与包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481328"/>
            <a:ext cx="914400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65376" y="1499616"/>
            <a:ext cx="9503359" cy="16459"/>
          </a:xfrm>
          <a:prstGeom prst="rect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3949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模块就是一个 .py 文件，可以被 import 复用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包是装着多个模块的文件夹，带 __init__.py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import 模块 / from 模块 import 名字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标准库自带大量工具，第三方库用 pip 安装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1828800"/>
            <a:ext cx="4645152" cy="3977639"/>
          </a:xfrm>
          <a:prstGeom prst="rect">
            <a:avLst/>
          </a:prstGeom>
          <a:solidFill>
            <a:srgbClr val="0F172A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0840" y="1828800"/>
            <a:ext cx="64008" cy="3977639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0296" y="1938528"/>
            <a:ext cx="4233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94A3B8"/>
                </a:solidFill>
                <a:latin typeface="Consolas"/>
                <a:ea typeface="Microsoft YaHei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0296" y="2286000"/>
            <a:ext cx="4187952" cy="34107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import math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print(math.sqrt(16))    </a:t>
            </a:r>
            <a:r>
              <a:rPr sz="1300" b="0" i="0">
                <a:solidFill>
                  <a:srgbClr val="34D399"/>
                </a:solidFill>
                <a:latin typeface="Consolas"/>
                <a:ea typeface="Microsoft YaHei"/>
              </a:rPr>
              <a:t> # 4.0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from random import randint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print(randint(1, 6))    </a:t>
            </a:r>
            <a:r>
              <a:rPr sz="1300" b="0" i="0">
                <a:solidFill>
                  <a:srgbClr val="34D399"/>
                </a:solidFill>
                <a:latin typeface="Consolas"/>
                <a:ea typeface="Microsoft YaHei"/>
              </a:rPr>
              <a:t> # 1~6 随机整数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2D3EE"/>
                </a:solidFill>
                <a:latin typeface="Microsoft YaHei"/>
                <a:ea typeface="Microsoft YaHei"/>
              </a:rPr>
              <a:t>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11535" y="475488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94A3B8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E5E7EB"/>
                </a:solidFill>
                <a:latin typeface="Microsoft YaHei"/>
                <a:ea typeface="Microsoft YaHei"/>
              </a:rPr>
              <a:t>常用标准库与生态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481328"/>
            <a:ext cx="914400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65376" y="1499616"/>
            <a:ext cx="9503359" cy="16459"/>
          </a:xfrm>
          <a:prstGeom prst="rect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3949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标准库：os / sys / json / re / math / datetime，导入即可用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数据处理：pandas / numpy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网络请求：requests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应用框架：streamlit（你之前搭过）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核心能力：先"查文档 + 找库"，别急着从头造轮子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1828800"/>
            <a:ext cx="4645152" cy="3977639"/>
          </a:xfrm>
          <a:prstGeom prst="rect">
            <a:avLst/>
          </a:prstGeom>
          <a:solidFill>
            <a:srgbClr val="0F172A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0840" y="1828800"/>
            <a:ext cx="64008" cy="3977639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0296" y="1938528"/>
            <a:ext cx="4233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94A3B8"/>
                </a:solidFill>
                <a:latin typeface="Consolas"/>
                <a:ea typeface="Microsoft YaHei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0296" y="2286000"/>
            <a:ext cx="4187952" cy="34107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C7D2FE"/>
                </a:solidFill>
                <a:latin typeface="Consolas"/>
                <a:ea typeface="Microsoft YaHei"/>
              </a:rPr>
              <a:t>import json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C7D2FE"/>
                </a:solidFill>
                <a:latin typeface="Consolas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C7D2FE"/>
                </a:solidFill>
                <a:latin typeface="Consolas"/>
                <a:ea typeface="Microsoft YaHei"/>
              </a:rPr>
              <a:t>data = {"name": "Mys", "score": 88}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C7D2FE"/>
                </a:solidFill>
                <a:latin typeface="Consolas"/>
                <a:ea typeface="Microsoft YaHei"/>
              </a:rPr>
              <a:t>text = json.dumps(data) </a:t>
            </a:r>
            <a:r>
              <a:rPr sz="1200" b="0" i="0">
                <a:solidFill>
                  <a:srgbClr val="34D399"/>
                </a:solidFill>
                <a:latin typeface="Consolas"/>
                <a:ea typeface="Microsoft YaHei"/>
              </a:rPr>
              <a:t> # 转 JSON 字符串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C7D2FE"/>
                </a:solidFill>
                <a:latin typeface="Consolas"/>
                <a:ea typeface="Microsoft YaHei"/>
              </a:rPr>
              <a:t>obj = json.loads(text)  </a:t>
            </a:r>
            <a:r>
              <a:rPr sz="1200" b="0" i="0">
                <a:solidFill>
                  <a:srgbClr val="34D399"/>
                </a:solidFill>
                <a:latin typeface="Consolas"/>
                <a:ea typeface="Microsoft YaHei"/>
              </a:rPr>
              <a:t> # 再转回字典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C7D2FE"/>
                </a:solidFill>
                <a:latin typeface="Consolas"/>
                <a:ea typeface="Microsoft YaHei"/>
              </a:rPr>
              <a:t>print(obj["score"])     </a:t>
            </a:r>
            <a:r>
              <a:rPr sz="1200" b="0" i="0">
                <a:solidFill>
                  <a:srgbClr val="34D399"/>
                </a:solidFill>
                <a:latin typeface="Consolas"/>
                <a:ea typeface="Microsoft YaHei"/>
              </a:rPr>
              <a:t> # 88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2D3EE"/>
                </a:solidFill>
                <a:latin typeface="Microsoft YaHei"/>
                <a:ea typeface="Microsoft YaHei"/>
              </a:rPr>
              <a:t>PUT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11535" y="475488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94A3B8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E5E7EB"/>
                </a:solidFill>
                <a:latin typeface="Microsoft YaHei"/>
                <a:ea typeface="Microsoft YaHei"/>
              </a:rPr>
              <a:t>综合小例子：统计成绩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481328"/>
            <a:ext cx="914400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65376" y="1499616"/>
            <a:ext cx="9503359" cy="16459"/>
          </a:xfrm>
          <a:prstGeom prst="rect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3949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把函数、列表、异常、模块串成一个小程序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需求：输入一组成绩，算平均分，并处理空列表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思路：拆成小函数，每个只负责一件事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可扩展：读写文件、排序、统计及格率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1828800"/>
            <a:ext cx="4645152" cy="3977639"/>
          </a:xfrm>
          <a:prstGeom prst="rect">
            <a:avLst/>
          </a:prstGeom>
          <a:solidFill>
            <a:srgbClr val="0F172A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0840" y="1828800"/>
            <a:ext cx="64008" cy="3977639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0296" y="1938528"/>
            <a:ext cx="4233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94A3B8"/>
                </a:solidFill>
                <a:latin typeface="Consolas"/>
                <a:ea typeface="Microsoft YaHei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0296" y="2286000"/>
            <a:ext cx="4187952" cy="34107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def average(scores):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    if not scores: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        raise ValueError("列表为空")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    return sum(scores) / len(scores)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scores = [88, 92, 76]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try: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    print(f"平均分: {average(scores):.1f}")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except ValueError as e: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onsolas"/>
                <a:ea typeface="Microsoft YaHei"/>
              </a:rPr>
              <a:t>    print("出错:", 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2D3EE"/>
                </a:solidFill>
                <a:latin typeface="Microsoft YaHei"/>
                <a:ea typeface="Microsoft YaHei"/>
              </a:rPr>
              <a:t>GOTCHAS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11535" y="475488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94A3B8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E5E7EB"/>
                </a:solidFill>
                <a:latin typeface="Microsoft YaHei"/>
                <a:ea typeface="Microsoft YaHei"/>
              </a:rPr>
              <a:t>常见误区与易错点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481328"/>
            <a:ext cx="914400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65376" y="1499616"/>
            <a:ext cx="9503359" cy="16459"/>
          </a:xfrm>
          <a:prstGeom prst="rect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3949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可变默认参数：别用 [] / {} 当默认值，用 None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浅拷贝：copy() 只复制外层，嵌套对象仍共享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缩进不一致会直接报 IndentationError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</a:rPr>
              <a:t>== 比"值"，is 比"是不是同一个对象"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1828800"/>
            <a:ext cx="4645152" cy="3977639"/>
          </a:xfrm>
          <a:prstGeom prst="rect">
            <a:avLst/>
          </a:prstGeom>
          <a:solidFill>
            <a:srgbClr val="0F172A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0840" y="1828800"/>
            <a:ext cx="64008" cy="3977639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0296" y="1938528"/>
            <a:ext cx="4233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94A3B8"/>
                </a:solidFill>
                <a:latin typeface="Consolas"/>
                <a:ea typeface="Microsoft YaHei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0296" y="2286000"/>
            <a:ext cx="4187952" cy="34107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34D399"/>
                </a:solidFill>
                <a:latin typeface="Consolas"/>
                <a:ea typeface="Microsoft YaHei"/>
              </a:rPr>
              <a:t># 坑1：可变默认参数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C7D2FE"/>
                </a:solidFill>
                <a:latin typeface="Consolas"/>
                <a:ea typeface="Microsoft YaHei"/>
              </a:rPr>
              <a:t>def add(x, lst=[]):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C7D2FE"/>
                </a:solidFill>
                <a:latin typeface="Consolas"/>
                <a:ea typeface="Microsoft YaHei"/>
              </a:rPr>
              <a:t>    lst.append(x)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C7D2FE"/>
                </a:solidFill>
                <a:latin typeface="Consolas"/>
                <a:ea typeface="Microsoft YaHei"/>
              </a:rPr>
              <a:t>    return lst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C7D2FE"/>
                </a:solidFill>
                <a:latin typeface="Consolas"/>
                <a:ea typeface="Microsoft YaHei"/>
              </a:rPr>
              <a:t>print(add(1))  </a:t>
            </a:r>
            <a:r>
              <a:rPr sz="1200" b="0" i="0">
                <a:solidFill>
                  <a:srgbClr val="34D399"/>
                </a:solidFill>
                <a:latin typeface="Consolas"/>
                <a:ea typeface="Microsoft YaHei"/>
              </a:rPr>
              <a:t> # [1]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C7D2FE"/>
                </a:solidFill>
                <a:latin typeface="Consolas"/>
                <a:ea typeface="Microsoft YaHei"/>
              </a:rPr>
              <a:t>print(add(2))  </a:t>
            </a:r>
            <a:r>
              <a:rPr sz="1200" b="0" i="0">
                <a:solidFill>
                  <a:srgbClr val="34D399"/>
                </a:solidFill>
                <a:latin typeface="Consolas"/>
                <a:ea typeface="Microsoft YaHei"/>
              </a:rPr>
              <a:t> # [1, 2] 意外！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C7D2FE"/>
                </a:solidFill>
                <a:latin typeface="Consolas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4D399"/>
                </a:solidFill>
                <a:latin typeface="Consolas"/>
                <a:ea typeface="Microsoft YaHei"/>
              </a:rPr>
              <a:t># 正确：用 None 做默认值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C7D2FE"/>
                </a:solidFill>
                <a:latin typeface="Consolas"/>
                <a:ea typeface="Microsoft YaHei"/>
              </a:rPr>
              <a:t>def add(x, lst=None):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C7D2FE"/>
                </a:solidFill>
                <a:latin typeface="Consolas"/>
                <a:ea typeface="Microsoft YaHei"/>
              </a:rPr>
              <a:t>    lst = lst or []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C7D2FE"/>
                </a:solidFill>
                <a:latin typeface="Consolas"/>
                <a:ea typeface="Microsoft YaHei"/>
              </a:rPr>
              <a:t>    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2D3EE"/>
                </a:solidFill>
                <a:latin typeface="Microsoft YaHei"/>
                <a:ea typeface="Microsoft YaHe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11535" y="475488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94A3B8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E5E7EB"/>
                </a:solidFill>
                <a:latin typeface="Microsoft YaHei"/>
                <a:ea typeface="Microsoft YaHei"/>
              </a:rPr>
              <a:t>下一步学习路径 + 参考来源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481328"/>
            <a:ext cx="914400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65376" y="1499616"/>
            <a:ext cx="9503359" cy="16459"/>
          </a:xfrm>
          <a:prstGeom prst="rect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3949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600" b="0" i="0">
                <a:solidFill>
                  <a:srgbClr val="E5E7EB"/>
                </a:solidFill>
                <a:latin typeface="Microsoft YaHei"/>
                <a:ea typeface="Microsoft YaHei"/>
              </a:rPr>
              <a:t>先精读官方教程，并动手敲出每一个示例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600" b="0" i="0">
                <a:solidFill>
                  <a:srgbClr val="E5E7EB"/>
                </a:solidFill>
                <a:latin typeface="Microsoft YaHei"/>
                <a:ea typeface="Microsoft YaHei"/>
              </a:rPr>
              <a:t>用一个小项目把概念串起来：成绩统计、记账本、待办清单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600" b="0" i="0">
                <a:solidFill>
                  <a:srgbClr val="E5E7EB"/>
                </a:solidFill>
                <a:latin typeface="Microsoft YaHei"/>
                <a:ea typeface="Microsoft YaHei"/>
              </a:rPr>
              <a:t>学会查标准库和第三方库文档，再深入装饰器、生成器等进阶主题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 i="0">
                <a:solidFill>
                  <a:srgbClr val="22D3EE"/>
                </a:solidFill>
                <a:latin typeface="Consolas"/>
                <a:ea typeface="Consolas"/>
              </a:rPr>
              <a:t>&gt; </a:t>
            </a:r>
            <a:r>
              <a:rPr sz="1600" b="0" i="0">
                <a:solidFill>
                  <a:srgbClr val="E5E7EB"/>
                </a:solidFill>
                <a:latin typeface="Microsoft YaHei"/>
                <a:ea typeface="Microsoft YaHei"/>
              </a:rPr>
              <a:t>把做过的项目写下来，作为自己的复习资料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1828800"/>
            <a:ext cx="4645152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0840" y="1828800"/>
            <a:ext cx="64008" cy="38404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2084831"/>
            <a:ext cx="42062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E5E7EB"/>
                </a:solidFill>
                <a:latin typeface="Microsoft YaHei"/>
                <a:ea typeface="Microsoft YaHei"/>
              </a:rPr>
              <a:t>参考来源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400" b="1" i="0">
                <a:solidFill>
                  <a:srgbClr val="E5E7EB"/>
                </a:solidFill>
                <a:latin typeface="Microsoft YaHei"/>
                <a:ea typeface="Microsoft YaHei"/>
              </a:rPr>
              <a:t>Python 官方教程（中文）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22D3EE"/>
                </a:solidFill>
                <a:latin typeface="Microsoft YaHei"/>
                <a:ea typeface="Microsoft YaHei"/>
              </a:rPr>
              <a:t>https://docs.python.org/zh-cn/3/tutorial/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400" b="1" i="0">
                <a:solidFill>
                  <a:srgbClr val="E5E7EB"/>
                </a:solidFill>
                <a:latin typeface="Microsoft YaHei"/>
                <a:ea typeface="Microsoft YaHei"/>
              </a:rPr>
              <a:t>Python 官方文档（中文）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22D3EE"/>
                </a:solidFill>
                <a:latin typeface="Microsoft YaHei"/>
                <a:ea typeface="Microsoft YaHei"/>
              </a:rPr>
              <a:t>https://docs.python.org/zh-cn/3/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400" b="1" i="0">
                <a:solidFill>
                  <a:srgbClr val="E5E7EB"/>
                </a:solidFill>
                <a:latin typeface="Microsoft YaHei"/>
                <a:ea typeface="Microsoft YaHei"/>
              </a:rPr>
              <a:t>中国大学 MOOC · Python 编程基础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22D3EE"/>
                </a:solidFill>
                <a:latin typeface="Microsoft YaHei"/>
                <a:ea typeface="Microsoft YaHei"/>
              </a:rPr>
              <a:t>https://www.icourse163.org/course/detail.htm?cid=1206206801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